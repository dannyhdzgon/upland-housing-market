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83"/>
    <p:restoredTop sz="94661"/>
  </p:normalViewPr>
  <p:slideViewPr>
    <p:cSldViewPr snapToGrid="0">
      <p:cViewPr varScale="1">
        <p:scale>
          <a:sx n="109" d="100"/>
          <a:sy n="109" d="100"/>
        </p:scale>
        <p:origin x="11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ny A. Hernandez Gonzalez" userId="e5cfe5df-e24a-4195-b220-347d5133d1dd" providerId="ADAL" clId="{2F390282-944C-5DB3-BFE3-ED9337C2E699}"/>
    <pc:docChg chg="custSel modSld">
      <pc:chgData name="Danny A. Hernandez Gonzalez" userId="e5cfe5df-e24a-4195-b220-347d5133d1dd" providerId="ADAL" clId="{2F390282-944C-5DB3-BFE3-ED9337C2E699}" dt="2026-10-22T00:17:05.110" v="8" actId="478"/>
      <pc:docMkLst>
        <pc:docMk/>
      </pc:docMkLst>
      <pc:sldChg chg="delSp mod delAnim">
        <pc:chgData name="Danny A. Hernandez Gonzalez" userId="e5cfe5df-e24a-4195-b220-347d5133d1dd" providerId="ADAL" clId="{2F390282-944C-5DB3-BFE3-ED9337C2E699}" dt="2026-10-22T00:16:39.046" v="0" actId="478"/>
        <pc:sldMkLst>
          <pc:docMk/>
          <pc:sldMk cId="3363508615" sldId="256"/>
        </pc:sldMkLst>
        <pc:picChg chg="del">
          <ac:chgData name="Danny A. Hernandez Gonzalez" userId="e5cfe5df-e24a-4195-b220-347d5133d1dd" providerId="ADAL" clId="{2F390282-944C-5DB3-BFE3-ED9337C2E699}" dt="2026-10-22T00:16:39.046" v="0" actId="478"/>
          <ac:picMkLst>
            <pc:docMk/>
            <pc:sldMk cId="3363508615" sldId="256"/>
            <ac:picMk id="6" creationId="{C03F7578-984C-BD62-3ABF-905F0C8A5958}"/>
          </ac:picMkLst>
        </pc:picChg>
      </pc:sldChg>
      <pc:sldChg chg="delSp mod delAnim">
        <pc:chgData name="Danny A. Hernandez Gonzalez" userId="e5cfe5df-e24a-4195-b220-347d5133d1dd" providerId="ADAL" clId="{2F390282-944C-5DB3-BFE3-ED9337C2E699}" dt="2026-10-22T00:16:43.948" v="1" actId="478"/>
        <pc:sldMkLst>
          <pc:docMk/>
          <pc:sldMk cId="3668124073" sldId="257"/>
        </pc:sldMkLst>
        <pc:picChg chg="del">
          <ac:chgData name="Danny A. Hernandez Gonzalez" userId="e5cfe5df-e24a-4195-b220-347d5133d1dd" providerId="ADAL" clId="{2F390282-944C-5DB3-BFE3-ED9337C2E699}" dt="2026-10-22T00:16:43.948" v="1" actId="478"/>
          <ac:picMkLst>
            <pc:docMk/>
            <pc:sldMk cId="3668124073" sldId="257"/>
            <ac:picMk id="8" creationId="{B10BC413-6751-F856-B0F2-50A438758639}"/>
          </ac:picMkLst>
        </pc:picChg>
      </pc:sldChg>
      <pc:sldChg chg="delSp mod delAnim">
        <pc:chgData name="Danny A. Hernandez Gonzalez" userId="e5cfe5df-e24a-4195-b220-347d5133d1dd" providerId="ADAL" clId="{2F390282-944C-5DB3-BFE3-ED9337C2E699}" dt="2026-10-22T00:16:46.962" v="2" actId="478"/>
        <pc:sldMkLst>
          <pc:docMk/>
          <pc:sldMk cId="576014044" sldId="258"/>
        </pc:sldMkLst>
        <pc:picChg chg="del">
          <ac:chgData name="Danny A. Hernandez Gonzalez" userId="e5cfe5df-e24a-4195-b220-347d5133d1dd" providerId="ADAL" clId="{2F390282-944C-5DB3-BFE3-ED9337C2E699}" dt="2026-10-22T00:16:46.962" v="2" actId="478"/>
          <ac:picMkLst>
            <pc:docMk/>
            <pc:sldMk cId="576014044" sldId="258"/>
            <ac:picMk id="9" creationId="{4938A2E9-5BC6-06A2-C15C-34F2FB09BD82}"/>
          </ac:picMkLst>
        </pc:picChg>
      </pc:sldChg>
      <pc:sldChg chg="delSp mod delAnim">
        <pc:chgData name="Danny A. Hernandez Gonzalez" userId="e5cfe5df-e24a-4195-b220-347d5133d1dd" providerId="ADAL" clId="{2F390282-944C-5DB3-BFE3-ED9337C2E699}" dt="2026-10-22T00:16:49.961" v="3" actId="478"/>
        <pc:sldMkLst>
          <pc:docMk/>
          <pc:sldMk cId="2573555417" sldId="259"/>
        </pc:sldMkLst>
        <pc:picChg chg="del">
          <ac:chgData name="Danny A. Hernandez Gonzalez" userId="e5cfe5df-e24a-4195-b220-347d5133d1dd" providerId="ADAL" clId="{2F390282-944C-5DB3-BFE3-ED9337C2E699}" dt="2026-10-22T00:16:49.961" v="3" actId="478"/>
          <ac:picMkLst>
            <pc:docMk/>
            <pc:sldMk cId="2573555417" sldId="259"/>
            <ac:picMk id="9" creationId="{E1ACC5A6-3D91-58D0-658C-A3C6E9810C74}"/>
          </ac:picMkLst>
        </pc:picChg>
      </pc:sldChg>
      <pc:sldChg chg="delSp mod delAnim">
        <pc:chgData name="Danny A. Hernandez Gonzalez" userId="e5cfe5df-e24a-4195-b220-347d5133d1dd" providerId="ADAL" clId="{2F390282-944C-5DB3-BFE3-ED9337C2E699}" dt="2026-10-22T00:16:53.036" v="4" actId="478"/>
        <pc:sldMkLst>
          <pc:docMk/>
          <pc:sldMk cId="3073497196" sldId="260"/>
        </pc:sldMkLst>
        <pc:picChg chg="del">
          <ac:chgData name="Danny A. Hernandez Gonzalez" userId="e5cfe5df-e24a-4195-b220-347d5133d1dd" providerId="ADAL" clId="{2F390282-944C-5DB3-BFE3-ED9337C2E699}" dt="2026-10-22T00:16:53.036" v="4" actId="478"/>
          <ac:picMkLst>
            <pc:docMk/>
            <pc:sldMk cId="3073497196" sldId="260"/>
            <ac:picMk id="8" creationId="{5901C89B-1A4F-D6BA-C8A0-22EEDB5E9C28}"/>
          </ac:picMkLst>
        </pc:picChg>
      </pc:sldChg>
      <pc:sldChg chg="delSp mod delAnim">
        <pc:chgData name="Danny A. Hernandez Gonzalez" userId="e5cfe5df-e24a-4195-b220-347d5133d1dd" providerId="ADAL" clId="{2F390282-944C-5DB3-BFE3-ED9337C2E699}" dt="2026-10-22T00:16:55.546" v="5" actId="478"/>
        <pc:sldMkLst>
          <pc:docMk/>
          <pc:sldMk cId="881438198" sldId="261"/>
        </pc:sldMkLst>
        <pc:picChg chg="del">
          <ac:chgData name="Danny A. Hernandez Gonzalez" userId="e5cfe5df-e24a-4195-b220-347d5133d1dd" providerId="ADAL" clId="{2F390282-944C-5DB3-BFE3-ED9337C2E699}" dt="2026-10-22T00:16:55.546" v="5" actId="478"/>
          <ac:picMkLst>
            <pc:docMk/>
            <pc:sldMk cId="881438198" sldId="261"/>
            <ac:picMk id="8" creationId="{522E7CF3-9EAA-6E9B-1162-B7B018998750}"/>
          </ac:picMkLst>
        </pc:picChg>
      </pc:sldChg>
      <pc:sldChg chg="delSp mod delAnim">
        <pc:chgData name="Danny A. Hernandez Gonzalez" userId="e5cfe5df-e24a-4195-b220-347d5133d1dd" providerId="ADAL" clId="{2F390282-944C-5DB3-BFE3-ED9337C2E699}" dt="2026-10-22T00:16:57.983" v="6" actId="478"/>
        <pc:sldMkLst>
          <pc:docMk/>
          <pc:sldMk cId="2674648147" sldId="262"/>
        </pc:sldMkLst>
        <pc:picChg chg="del">
          <ac:chgData name="Danny A. Hernandez Gonzalez" userId="e5cfe5df-e24a-4195-b220-347d5133d1dd" providerId="ADAL" clId="{2F390282-944C-5DB3-BFE3-ED9337C2E699}" dt="2026-10-22T00:16:57.983" v="6" actId="478"/>
          <ac:picMkLst>
            <pc:docMk/>
            <pc:sldMk cId="2674648147" sldId="262"/>
            <ac:picMk id="9" creationId="{28913723-1020-1496-F5B1-C7045DF158AF}"/>
          </ac:picMkLst>
        </pc:picChg>
      </pc:sldChg>
      <pc:sldChg chg="delSp mod delAnim">
        <pc:chgData name="Danny A. Hernandez Gonzalez" userId="e5cfe5df-e24a-4195-b220-347d5133d1dd" providerId="ADAL" clId="{2F390282-944C-5DB3-BFE3-ED9337C2E699}" dt="2026-10-22T00:17:00.413" v="7" actId="478"/>
        <pc:sldMkLst>
          <pc:docMk/>
          <pc:sldMk cId="384481015" sldId="263"/>
        </pc:sldMkLst>
        <pc:picChg chg="del">
          <ac:chgData name="Danny A. Hernandez Gonzalez" userId="e5cfe5df-e24a-4195-b220-347d5133d1dd" providerId="ADAL" clId="{2F390282-944C-5DB3-BFE3-ED9337C2E699}" dt="2026-10-22T00:17:00.413" v="7" actId="478"/>
          <ac:picMkLst>
            <pc:docMk/>
            <pc:sldMk cId="384481015" sldId="263"/>
            <ac:picMk id="11" creationId="{2F07A9B9-5F77-5543-1EF7-C5524BF1D41E}"/>
          </ac:picMkLst>
        </pc:picChg>
      </pc:sldChg>
      <pc:sldChg chg="delSp mod delAnim">
        <pc:chgData name="Danny A. Hernandez Gonzalez" userId="e5cfe5df-e24a-4195-b220-347d5133d1dd" providerId="ADAL" clId="{2F390282-944C-5DB3-BFE3-ED9337C2E699}" dt="2026-10-22T00:17:05.110" v="8" actId="478"/>
        <pc:sldMkLst>
          <pc:docMk/>
          <pc:sldMk cId="3681901111" sldId="264"/>
        </pc:sldMkLst>
        <pc:picChg chg="del">
          <ac:chgData name="Danny A. Hernandez Gonzalez" userId="e5cfe5df-e24a-4195-b220-347d5133d1dd" providerId="ADAL" clId="{2F390282-944C-5DB3-BFE3-ED9337C2E699}" dt="2026-10-22T00:17:05.110" v="8" actId="478"/>
          <ac:picMkLst>
            <pc:docMk/>
            <pc:sldMk cId="3681901111" sldId="264"/>
            <ac:picMk id="7" creationId="{3B4DA02B-8AED-E535-B19E-AC350BE95701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9.9393736750326797E-2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516472558099087"/>
          <c:y val="0.19069567736732065"/>
          <c:w val="0.87250269126011082"/>
          <c:h val="0.7341441260378520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decade timeline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Sheet1!$A$2:$A$17</c:f>
              <c:numCache>
                <c:formatCode>General</c:formatCode>
                <c:ptCount val="16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</c:numCache>
            </c:numRef>
          </c:cat>
          <c:val>
            <c:numRef>
              <c:f>Sheet1!$B$2:$B$17</c:f>
              <c:numCache>
                <c:formatCode>0.00%</c:formatCode>
                <c:ptCount val="16"/>
                <c:pt idx="0">
                  <c:v>0</c:v>
                </c:pt>
                <c:pt idx="1">
                  <c:v>8.1299999999999997E-2</c:v>
                </c:pt>
                <c:pt idx="2">
                  <c:v>5.8700000000000002E-2</c:v>
                </c:pt>
                <c:pt idx="3">
                  <c:v>1.3100000000000001E-2</c:v>
                </c:pt>
                <c:pt idx="4">
                  <c:v>4.1099999999999998E-2</c:v>
                </c:pt>
                <c:pt idx="5">
                  <c:v>0.21</c:v>
                </c:pt>
                <c:pt idx="6">
                  <c:v>0.1288</c:v>
                </c:pt>
                <c:pt idx="7">
                  <c:v>-2.4E-2</c:v>
                </c:pt>
                <c:pt idx="8">
                  <c:v>6.3799999999999996E-2</c:v>
                </c:pt>
                <c:pt idx="9">
                  <c:v>2.8999999999999998E-3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6F5-8049-B470-57F210F391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81436928"/>
        <c:axId val="1681438272"/>
      </c:lineChart>
      <c:catAx>
        <c:axId val="1681436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81438272"/>
        <c:crosses val="autoZero"/>
        <c:auto val="1"/>
        <c:lblAlgn val="ctr"/>
        <c:lblOffset val="100"/>
        <c:noMultiLvlLbl val="0"/>
      </c:catAx>
      <c:valAx>
        <c:axId val="16814382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814369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10/21/26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B9647-879D-5EBA-EB99-1FB93E29E9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Upland Housing market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2305F9-D009-A5EB-43B3-3503A74328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Danny Hernandez </a:t>
            </a:r>
            <a:r>
              <a:rPr lang="en-US" dirty="0" err="1"/>
              <a:t>gonzalez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9E0737-B0C6-90BD-20BE-D76C2B938058}"/>
              </a:ext>
            </a:extLst>
          </p:cNvPr>
          <p:cNvSpPr txBox="1"/>
          <p:nvPr/>
        </p:nvSpPr>
        <p:spPr>
          <a:xfrm>
            <a:off x="13055600" y="42164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508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00"/>
    </mc:Choice>
    <mc:Fallback xmlns="">
      <p:transition spd="slow" advTm="58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62568-EFB0-D6B5-1631-88487C842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341" y="334181"/>
            <a:ext cx="9603275" cy="1049235"/>
          </a:xfrm>
        </p:spPr>
        <p:txBody>
          <a:bodyPr/>
          <a:lstStyle/>
          <a:p>
            <a:r>
              <a:rPr lang="en-US" dirty="0"/>
              <a:t>Historical data in upland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BAA28B-69C6-FA96-B772-BBA507E69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4203226" cy="37560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D1F1E6-BECB-347E-76FA-018484833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56075"/>
            <a:ext cx="3234162" cy="32074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BCF59A-F76D-9864-F2DE-4067F2AFD7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3227" y="2766832"/>
            <a:ext cx="7772400" cy="3893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12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106"/>
    </mc:Choice>
    <mc:Fallback xmlns="">
      <p:transition spd="slow" advTm="4210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C170D-57A4-FB13-3BB3-68324E8B8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03275" cy="1049235"/>
          </a:xfrm>
        </p:spPr>
        <p:txBody>
          <a:bodyPr/>
          <a:lstStyle/>
          <a:p>
            <a:r>
              <a:rPr lang="en-US" dirty="0"/>
              <a:t>City vs State vs Country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E8366C-C89C-3873-C58C-0491C12D8A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01637" y="1049235"/>
            <a:ext cx="7291889" cy="42828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D45F18-F546-F5D2-B780-929162225C4A}"/>
              </a:ext>
            </a:extLst>
          </p:cNvPr>
          <p:cNvSpPr txBox="1"/>
          <p:nvPr/>
        </p:nvSpPr>
        <p:spPr>
          <a:xfrm>
            <a:off x="98474" y="407963"/>
            <a:ext cx="481115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Upland vs California:</a:t>
            </a:r>
          </a:p>
          <a:p>
            <a:endParaRPr lang="en-US" dirty="0"/>
          </a:p>
          <a:p>
            <a:r>
              <a:rPr lang="en-US" dirty="0"/>
              <a:t>756,988 – 738,890 = 18,098</a:t>
            </a:r>
          </a:p>
          <a:p>
            <a:endParaRPr lang="en-US" dirty="0"/>
          </a:p>
          <a:p>
            <a:r>
              <a:rPr lang="en-US" dirty="0"/>
              <a:t>((756,987 – 738,890) / 738,890) * 100) = 2.45%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52B809-5C5A-0D91-814A-1A3A5025993A}"/>
              </a:ext>
            </a:extLst>
          </p:cNvPr>
          <p:cNvSpPr txBox="1"/>
          <p:nvPr/>
        </p:nvSpPr>
        <p:spPr>
          <a:xfrm>
            <a:off x="-21102" y="2098470"/>
            <a:ext cx="50503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Upland vs United States:</a:t>
            </a:r>
          </a:p>
          <a:p>
            <a:endParaRPr lang="en-US" dirty="0"/>
          </a:p>
          <a:p>
            <a:r>
              <a:rPr lang="en-US" dirty="0"/>
              <a:t>756,988 – 352,788 = 404,200</a:t>
            </a:r>
          </a:p>
          <a:p>
            <a:endParaRPr lang="en-US" dirty="0"/>
          </a:p>
          <a:p>
            <a:r>
              <a:rPr lang="en-US" dirty="0"/>
              <a:t>((758,988 – 352,788 ) / 352,788) * 100) = 114.57%</a:t>
            </a:r>
          </a:p>
        </p:txBody>
      </p:sp>
    </p:spTree>
    <p:extLst>
      <p:ext uri="{BB962C8B-B14F-4D97-AF65-F5344CB8AC3E}">
        <p14:creationId xmlns:p14="http://schemas.microsoft.com/office/powerpoint/2010/main" val="576014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560"/>
    </mc:Choice>
    <mc:Fallback xmlns="">
      <p:transition spd="slow" advTm="6656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936B-4544-7CCE-A6DB-E4FE0B97C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603275" cy="618978"/>
          </a:xfrm>
        </p:spPr>
        <p:txBody>
          <a:bodyPr/>
          <a:lstStyle/>
          <a:p>
            <a:r>
              <a:rPr lang="en-US" dirty="0"/>
              <a:t>Growth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F2AAD-EA94-4549-EF6C-230B0F94B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7159" y="0"/>
            <a:ext cx="6862429" cy="731519"/>
          </a:xfrm>
        </p:spPr>
        <p:txBody>
          <a:bodyPr/>
          <a:lstStyle/>
          <a:p>
            <a:r>
              <a:rPr lang="en-US" dirty="0"/>
              <a:t>Growth Rate = ((New Value – Old Value) / Old Value) * 100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92E943-C45C-B4F7-FD68-56EDC0F8BEF8}"/>
              </a:ext>
            </a:extLst>
          </p:cNvPr>
          <p:cNvSpPr txBox="1"/>
          <p:nvPr/>
        </p:nvSpPr>
        <p:spPr>
          <a:xfrm>
            <a:off x="0" y="731519"/>
            <a:ext cx="593656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/>
              <a:t>2016:</a:t>
            </a:r>
            <a:r>
              <a:rPr lang="en-US" dirty="0"/>
              <a:t> $438,875</a:t>
            </a:r>
          </a:p>
          <a:p>
            <a:pPr lvl="0"/>
            <a:r>
              <a:rPr lang="en-US" b="1" dirty="0"/>
              <a:t>2017:</a:t>
            </a:r>
            <a:r>
              <a:rPr lang="en-US" dirty="0"/>
              <a:t> $474,554</a:t>
            </a:r>
          </a:p>
          <a:p>
            <a:pPr lvl="1"/>
            <a:r>
              <a:rPr lang="en-US" dirty="0"/>
              <a:t>Growth: ((474,554-438,875)/438,875 *100) </a:t>
            </a:r>
            <a:r>
              <a:rPr lang="en-US" b="1" dirty="0"/>
              <a:t>= 8.13%</a:t>
            </a:r>
            <a:endParaRPr lang="en-US" dirty="0"/>
          </a:p>
          <a:p>
            <a:pPr lvl="0"/>
            <a:r>
              <a:rPr lang="en-US" b="1" dirty="0"/>
              <a:t>2018:</a:t>
            </a:r>
            <a:r>
              <a:rPr lang="en-US" dirty="0"/>
              <a:t> $502,417</a:t>
            </a:r>
          </a:p>
          <a:p>
            <a:pPr lvl="1"/>
            <a:r>
              <a:rPr lang="en-US" dirty="0"/>
              <a:t>Growth: ((502,417-474,554)/474,554 * 100) </a:t>
            </a:r>
            <a:r>
              <a:rPr lang="en-US" b="1" dirty="0"/>
              <a:t>= 5.87%</a:t>
            </a:r>
            <a:endParaRPr lang="en-US" dirty="0"/>
          </a:p>
          <a:p>
            <a:pPr lvl="0"/>
            <a:r>
              <a:rPr lang="en-US" b="1" dirty="0"/>
              <a:t>2019:</a:t>
            </a:r>
            <a:r>
              <a:rPr lang="en-US" dirty="0"/>
              <a:t> $508,996</a:t>
            </a:r>
          </a:p>
          <a:p>
            <a:pPr lvl="1"/>
            <a:r>
              <a:rPr lang="en-US" dirty="0"/>
              <a:t>Growth: ((508,996-502,417)/502,417 *100) </a:t>
            </a:r>
            <a:r>
              <a:rPr lang="en-US" b="1" dirty="0"/>
              <a:t>= 1.31%</a:t>
            </a:r>
            <a:endParaRPr lang="en-US" dirty="0"/>
          </a:p>
          <a:p>
            <a:pPr lvl="0"/>
            <a:r>
              <a:rPr lang="en-US" b="1" dirty="0"/>
              <a:t>2020:</a:t>
            </a:r>
            <a:r>
              <a:rPr lang="en-US" dirty="0"/>
              <a:t> $529,901</a:t>
            </a:r>
          </a:p>
          <a:p>
            <a:pPr lvl="1"/>
            <a:r>
              <a:rPr lang="en-US" dirty="0"/>
              <a:t>Growth: ((529,901-508,996)/508,996 *100) </a:t>
            </a:r>
            <a:r>
              <a:rPr lang="en-US" b="1" dirty="0"/>
              <a:t>= 4.11%</a:t>
            </a:r>
            <a:endParaRPr lang="en-US" dirty="0"/>
          </a:p>
          <a:p>
            <a:pPr lvl="0"/>
            <a:r>
              <a:rPr lang="en-US" b="1" dirty="0"/>
              <a:t>2021:</a:t>
            </a:r>
            <a:r>
              <a:rPr lang="en-US" dirty="0"/>
              <a:t> $641,155</a:t>
            </a:r>
          </a:p>
          <a:p>
            <a:pPr lvl="1"/>
            <a:r>
              <a:rPr lang="en-US" dirty="0"/>
              <a:t>Growth: ((641,155-529,901)/529,901 * 100) </a:t>
            </a:r>
            <a:r>
              <a:rPr lang="en-US" b="1" dirty="0"/>
              <a:t>= 21.00%</a:t>
            </a:r>
            <a:endParaRPr lang="en-US" dirty="0"/>
          </a:p>
          <a:p>
            <a:pPr lvl="0"/>
            <a:r>
              <a:rPr lang="en-US" b="1" dirty="0"/>
              <a:t>2022:</a:t>
            </a:r>
            <a:r>
              <a:rPr lang="en-US" dirty="0"/>
              <a:t> $723,723</a:t>
            </a:r>
          </a:p>
          <a:p>
            <a:pPr lvl="1"/>
            <a:r>
              <a:rPr lang="en-US" dirty="0"/>
              <a:t>Growth: ((723,723-641,155)/641,155 *100) </a:t>
            </a:r>
            <a:r>
              <a:rPr lang="en-US" b="1" dirty="0"/>
              <a:t>= 12.88%</a:t>
            </a:r>
          </a:p>
          <a:p>
            <a:pPr lvl="0"/>
            <a:r>
              <a:rPr lang="en-US" b="1" dirty="0"/>
              <a:t>2023:</a:t>
            </a:r>
            <a:r>
              <a:rPr lang="en-US" dirty="0"/>
              <a:t> $706,320</a:t>
            </a:r>
          </a:p>
          <a:p>
            <a:pPr lvl="1"/>
            <a:r>
              <a:rPr lang="en-US" dirty="0"/>
              <a:t>Growth: ((706,320-723,723)/723,723 * 100) </a:t>
            </a:r>
            <a:r>
              <a:rPr lang="en-US" b="1" dirty="0"/>
              <a:t>= −2.40%</a:t>
            </a:r>
            <a:endParaRPr lang="en-US" dirty="0"/>
          </a:p>
          <a:p>
            <a:pPr lvl="0"/>
            <a:r>
              <a:rPr lang="en-US" b="1" dirty="0"/>
              <a:t>2024:</a:t>
            </a:r>
            <a:r>
              <a:rPr lang="en-US" dirty="0"/>
              <a:t> $751,366</a:t>
            </a:r>
          </a:p>
          <a:p>
            <a:pPr lvl="1"/>
            <a:r>
              <a:rPr lang="en-US" dirty="0"/>
              <a:t>Growth: ((751,366-706,320)/706,320 *100) </a:t>
            </a:r>
            <a:r>
              <a:rPr lang="en-US" b="1" dirty="0"/>
              <a:t>= 6.38%</a:t>
            </a:r>
            <a:endParaRPr lang="en-US" dirty="0"/>
          </a:p>
          <a:p>
            <a:pPr lvl="0"/>
            <a:r>
              <a:rPr lang="en-US" b="1" dirty="0"/>
              <a:t>2025:</a:t>
            </a:r>
            <a:r>
              <a:rPr lang="en-US" dirty="0"/>
              <a:t> $753,563</a:t>
            </a:r>
          </a:p>
          <a:p>
            <a:pPr lvl="1"/>
            <a:r>
              <a:rPr lang="en-US" dirty="0"/>
              <a:t>Growth: ((753,563-751,366)/751,366 *100) </a:t>
            </a:r>
            <a:r>
              <a:rPr lang="en-US" b="1" dirty="0"/>
              <a:t>= 0.29%</a:t>
            </a:r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6C13B755-C0EF-737F-4A82-785EB67C53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3344010"/>
              </p:ext>
            </p:extLst>
          </p:nvPr>
        </p:nvGraphicFramePr>
        <p:xfrm>
          <a:off x="5936566" y="365759"/>
          <a:ext cx="6255434" cy="38312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BC8AF2F3-F983-C42B-EFB3-ED59B188B0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6566" y="4309529"/>
            <a:ext cx="5052362" cy="2530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555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691"/>
    </mc:Choice>
    <mc:Fallback xmlns="">
      <p:transition spd="slow" advTm="9069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PLAND, CA Colonies Campus Center Fully Leased – Commercial West Brokerage, Inc.">
            <a:extLst>
              <a:ext uri="{FF2B5EF4-FFF2-40B4-BE49-F238E27FC236}">
                <a16:creationId xmlns:a16="http://schemas.microsoft.com/office/drawing/2014/main" id="{D16B0B1F-C65F-1C1D-BD52-A920BDFEE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4838" y="1993900"/>
            <a:ext cx="4279900" cy="2870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33DD6A-C373-94F3-1719-E26F9185A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5F970-3061-FFB5-F422-8631F7E65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194560"/>
            <a:ext cx="4644421" cy="3271785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1. Raw Land → Land → Real Estate</a:t>
            </a:r>
          </a:p>
          <a:p>
            <a:pPr lvl="0"/>
            <a:r>
              <a:rPr lang="en-US" b="1" dirty="0"/>
              <a:t>Raw land</a:t>
            </a:r>
            <a:r>
              <a:rPr lang="en-US" dirty="0"/>
              <a:t> → undeveloped</a:t>
            </a:r>
          </a:p>
          <a:p>
            <a:pPr lvl="0"/>
            <a:r>
              <a:rPr lang="en-US" b="1" dirty="0"/>
              <a:t>Land</a:t>
            </a:r>
            <a:r>
              <a:rPr lang="en-US" dirty="0"/>
              <a:t> → infrastructure/utilities added</a:t>
            </a:r>
          </a:p>
          <a:p>
            <a:pPr lvl="0"/>
            <a:r>
              <a:rPr lang="en-US" b="1" dirty="0"/>
              <a:t>Real estate</a:t>
            </a:r>
            <a:r>
              <a:rPr lang="en-US" dirty="0"/>
              <a:t> → buildings/improvements added</a:t>
            </a:r>
          </a:p>
          <a:p>
            <a:pPr lvl="0"/>
            <a:r>
              <a:rPr lang="en-US" dirty="0"/>
              <a:t>Upland has converted/redeveloped land for </a:t>
            </a:r>
            <a:r>
              <a:rPr lang="en-US" b="1" dirty="0"/>
              <a:t>residential and commercial uses</a:t>
            </a:r>
            <a:endParaRPr lang="en-US" dirty="0"/>
          </a:p>
          <a:p>
            <a:pPr lvl="0"/>
            <a:r>
              <a:rPr lang="en-US" dirty="0"/>
              <a:t>Improvements can increase the </a:t>
            </a:r>
            <a:r>
              <a:rPr lang="en-US" b="1" dirty="0"/>
              <a:t>utility and value of the land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497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863"/>
    </mc:Choice>
    <mc:Fallback xmlns="">
      <p:transition spd="slow" advTm="3386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81C4E-4D44-9FDE-ECDD-A75FC8636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Causes continued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D254CC-66A6-75A8-22F6-E81ADD30B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5989855" cy="3450613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New Housing / Development</a:t>
            </a:r>
          </a:p>
          <a:p>
            <a:pPr lvl="0"/>
            <a:r>
              <a:rPr lang="en-US" dirty="0"/>
              <a:t>Upland must plan for </a:t>
            </a:r>
            <a:r>
              <a:rPr lang="en-US" b="1" dirty="0"/>
              <a:t>5,686 additional housing units from 2021–2029</a:t>
            </a:r>
            <a:endParaRPr lang="en-US" dirty="0"/>
          </a:p>
          <a:p>
            <a:pPr lvl="0"/>
            <a:r>
              <a:rPr lang="en-US" dirty="0"/>
              <a:t>Rezoning + new development</a:t>
            </a:r>
          </a:p>
          <a:p>
            <a:pPr lvl="0"/>
            <a:r>
              <a:rPr lang="en-US" dirty="0"/>
              <a:t>More:</a:t>
            </a:r>
          </a:p>
          <a:p>
            <a:pPr lvl="1"/>
            <a:r>
              <a:rPr lang="en-US" dirty="0"/>
              <a:t>Townhomes</a:t>
            </a:r>
          </a:p>
          <a:p>
            <a:pPr lvl="1"/>
            <a:r>
              <a:rPr lang="en-US" dirty="0"/>
              <a:t>Multi-family housing</a:t>
            </a:r>
          </a:p>
          <a:p>
            <a:pPr lvl="1"/>
            <a:r>
              <a:rPr lang="en-US" dirty="0"/>
              <a:t>Infill development</a:t>
            </a:r>
          </a:p>
          <a:p>
            <a:pPr lvl="0"/>
            <a:r>
              <a:rPr lang="en-US" dirty="0"/>
              <a:t>Examples:</a:t>
            </a:r>
          </a:p>
          <a:p>
            <a:pPr lvl="1"/>
            <a:r>
              <a:rPr lang="en-US" b="1" dirty="0"/>
              <a:t>Towns on First</a:t>
            </a:r>
            <a:endParaRPr lang="en-US" dirty="0"/>
          </a:p>
          <a:p>
            <a:pPr lvl="1"/>
            <a:r>
              <a:rPr lang="en-US" b="1" dirty="0"/>
              <a:t>Villa Serena</a:t>
            </a:r>
            <a:endParaRPr lang="en-US" dirty="0"/>
          </a:p>
          <a:p>
            <a:pPr lvl="1"/>
            <a:r>
              <a:rPr lang="en-US" b="1" dirty="0"/>
              <a:t>Rose Glen</a:t>
            </a:r>
            <a:endParaRPr lang="en-US" dirty="0"/>
          </a:p>
          <a:p>
            <a:pPr lvl="0"/>
            <a:r>
              <a:rPr lang="en-US" dirty="0"/>
              <a:t>Newer housing can attract buyers and change neighborhood values</a:t>
            </a:r>
          </a:p>
          <a:p>
            <a:endParaRPr lang="en-US" dirty="0"/>
          </a:p>
        </p:txBody>
      </p:sp>
      <p:pic>
        <p:nvPicPr>
          <p:cNvPr id="5" name="Picture 4" descr="New Construction Homes in Upland, CA | 162 Communities">
            <a:extLst>
              <a:ext uri="{FF2B5EF4-FFF2-40B4-BE49-F238E27FC236}">
                <a16:creationId xmlns:a16="http://schemas.microsoft.com/office/drawing/2014/main" id="{46508223-1057-A6AC-F8DF-8629E2D41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9089" y="2015733"/>
            <a:ext cx="2933946" cy="1643010"/>
          </a:xfrm>
          <a:prstGeom prst="rect">
            <a:avLst/>
          </a:prstGeom>
        </p:spPr>
      </p:pic>
      <p:pic>
        <p:nvPicPr>
          <p:cNvPr id="4" name="Content Placeholder 3" descr="New Construction Homes in Upland, CA | 162 Communities">
            <a:extLst>
              <a:ext uri="{FF2B5EF4-FFF2-40B4-BE49-F238E27FC236}">
                <a16:creationId xmlns:a16="http://schemas.microsoft.com/office/drawing/2014/main" id="{86578615-AB9D-F42F-9774-E7B31CF3CA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7272" y="3933856"/>
            <a:ext cx="3177581" cy="1421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438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904"/>
    </mc:Choice>
    <mc:Fallback xmlns="">
      <p:transition spd="slow" advTm="43904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050DB-AEA6-0D04-6297-29B59804C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Causes continued </a:t>
            </a:r>
          </a:p>
        </p:txBody>
      </p:sp>
      <p:pic>
        <p:nvPicPr>
          <p:cNvPr id="4" name="Content Placeholder 3" descr="Mountain Green Shopping Center – Upland, CA – DMP Properties">
            <a:extLst>
              <a:ext uri="{FF2B5EF4-FFF2-40B4-BE49-F238E27FC236}">
                <a16:creationId xmlns:a16="http://schemas.microsoft.com/office/drawing/2014/main" id="{07228255-B10A-6CDD-143D-29B9B57887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46143" y="221804"/>
            <a:ext cx="3784600" cy="3263900"/>
          </a:xfrm>
          <a:prstGeom prst="rect">
            <a:avLst/>
          </a:prstGeom>
        </p:spPr>
      </p:pic>
      <p:pic>
        <p:nvPicPr>
          <p:cNvPr id="5" name="Picture 4" descr="UPLAND, CA Colonies Campus Center Fully Leased – Commercial West Brokerage, Inc.">
            <a:extLst>
              <a:ext uri="{FF2B5EF4-FFF2-40B4-BE49-F238E27FC236}">
                <a16:creationId xmlns:a16="http://schemas.microsoft.com/office/drawing/2014/main" id="{2A68CB66-7982-09F1-40A5-27480A31C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197" y="4068419"/>
            <a:ext cx="3326492" cy="22308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237E74-3C8B-51D7-2E0A-3B8D5F0F0BDC}"/>
              </a:ext>
            </a:extLst>
          </p:cNvPr>
          <p:cNvSpPr txBox="1"/>
          <p:nvPr/>
        </p:nvSpPr>
        <p:spPr>
          <a:xfrm>
            <a:off x="587829" y="2046514"/>
            <a:ext cx="755831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Commercial Development / Amenities</a:t>
            </a:r>
          </a:p>
          <a:p>
            <a:pPr lvl="0"/>
            <a:r>
              <a:rPr lang="en-US" dirty="0"/>
              <a:t>Commercial areas have also been redeveloped</a:t>
            </a:r>
          </a:p>
          <a:p>
            <a:pPr lvl="0"/>
            <a:r>
              <a:rPr lang="en-US" b="1" dirty="0"/>
              <a:t>Packing District</a:t>
            </a:r>
            <a:endParaRPr lang="en-US" dirty="0"/>
          </a:p>
          <a:p>
            <a:pPr lvl="0"/>
            <a:r>
              <a:rPr lang="en-US" b="1" dirty="0"/>
              <a:t>Mountain Green Center</a:t>
            </a:r>
            <a:endParaRPr lang="en-US" dirty="0"/>
          </a:p>
          <a:p>
            <a:pPr lvl="0"/>
            <a:r>
              <a:rPr lang="en-US" dirty="0"/>
              <a:t>New:</a:t>
            </a:r>
          </a:p>
          <a:p>
            <a:pPr lvl="1"/>
            <a:r>
              <a:rPr lang="en-US" dirty="0"/>
              <a:t>Restaurants</a:t>
            </a:r>
          </a:p>
          <a:p>
            <a:pPr lvl="1"/>
            <a:r>
              <a:rPr lang="en-US" dirty="0"/>
              <a:t>Coffee shops</a:t>
            </a:r>
          </a:p>
          <a:p>
            <a:pPr lvl="1"/>
            <a:r>
              <a:rPr lang="en-US" dirty="0"/>
              <a:t>Retail</a:t>
            </a:r>
          </a:p>
          <a:p>
            <a:pPr lvl="1"/>
            <a:r>
              <a:rPr lang="en-US" dirty="0"/>
              <a:t>Services</a:t>
            </a:r>
          </a:p>
          <a:p>
            <a:pPr lvl="0"/>
            <a:r>
              <a:rPr lang="en-US" dirty="0"/>
              <a:t>More amenities → </a:t>
            </a:r>
            <a:r>
              <a:rPr lang="en-US" b="1" dirty="0"/>
              <a:t>greater desirability</a:t>
            </a:r>
            <a:endParaRPr lang="en-US" dirty="0"/>
          </a:p>
          <a:p>
            <a:pPr lvl="0"/>
            <a:r>
              <a:rPr lang="en-US" dirty="0"/>
              <a:t>Greater desirability → </a:t>
            </a:r>
            <a:r>
              <a:rPr lang="en-US" b="1" dirty="0"/>
              <a:t>greater housing demand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4648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401"/>
    </mc:Choice>
    <mc:Fallback xmlns="">
      <p:transition spd="slow" advTm="3140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D9512-C649-985B-B73F-C901A6637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Causes continued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3DF71-2B47-7285-9C9C-B8DC8697A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4" name="Picture 3" descr="Euclid Avenue Bridle Path, California - 1,032 Reviews, Map | AllTrails">
            <a:extLst>
              <a:ext uri="{FF2B5EF4-FFF2-40B4-BE49-F238E27FC236}">
                <a16:creationId xmlns:a16="http://schemas.microsoft.com/office/drawing/2014/main" id="{88294188-768F-9104-4351-5A652F924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1400" y="1853754"/>
            <a:ext cx="3530600" cy="2273300"/>
          </a:xfrm>
          <a:prstGeom prst="rect">
            <a:avLst/>
          </a:prstGeom>
        </p:spPr>
      </p:pic>
      <p:pic>
        <p:nvPicPr>
          <p:cNvPr id="5" name="Picture 4" descr="12 great things to do in Upland California | Let's Roam">
            <a:extLst>
              <a:ext uri="{FF2B5EF4-FFF2-40B4-BE49-F238E27FC236}">
                <a16:creationId xmlns:a16="http://schemas.microsoft.com/office/drawing/2014/main" id="{D03B9177-61F6-E10A-7411-03F29E90B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7400" y="4127054"/>
            <a:ext cx="3784600" cy="2120900"/>
          </a:xfrm>
          <a:prstGeom prst="rect">
            <a:avLst/>
          </a:prstGeom>
        </p:spPr>
      </p:pic>
      <p:pic>
        <p:nvPicPr>
          <p:cNvPr id="6" name="Picture 5" descr="IMG_7880 &quot;Upland Metrolink Station&quot; | saxxon57 | Flickr">
            <a:extLst>
              <a:ext uri="{FF2B5EF4-FFF2-40B4-BE49-F238E27FC236}">
                <a16:creationId xmlns:a16="http://schemas.microsoft.com/office/drawing/2014/main" id="{8869183E-BB7B-8CFC-EC0E-4B2549D892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1400" y="0"/>
            <a:ext cx="2616200" cy="17441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DAC66C6-5673-DD11-D1F8-A52F82BAD503}"/>
              </a:ext>
            </a:extLst>
          </p:cNvPr>
          <p:cNvSpPr txBox="1"/>
          <p:nvPr/>
        </p:nvSpPr>
        <p:spPr>
          <a:xfrm>
            <a:off x="283912" y="2147295"/>
            <a:ext cx="790214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Location / Quality of Life</a:t>
            </a:r>
          </a:p>
          <a:p>
            <a:pPr lvl="0"/>
            <a:r>
              <a:rPr lang="en-US" b="1" dirty="0"/>
              <a:t>Upper Upland</a:t>
            </a:r>
            <a:endParaRPr lang="en-US" dirty="0"/>
          </a:p>
          <a:p>
            <a:pPr lvl="1"/>
            <a:r>
              <a:rPr lang="en-US" dirty="0"/>
              <a:t>More expensive properties</a:t>
            </a:r>
          </a:p>
          <a:p>
            <a:pPr lvl="1"/>
            <a:r>
              <a:rPr lang="en-US" dirty="0"/>
              <a:t>Higher-income area</a:t>
            </a:r>
          </a:p>
          <a:p>
            <a:pPr lvl="1"/>
            <a:r>
              <a:rPr lang="en-US" dirty="0"/>
              <a:t>Helps raise overall city home values</a:t>
            </a:r>
          </a:p>
          <a:p>
            <a:pPr lvl="0"/>
            <a:r>
              <a:rPr lang="en-US" b="1" dirty="0"/>
              <a:t>Nature / foothills</a:t>
            </a:r>
            <a:endParaRPr lang="en-US" dirty="0"/>
          </a:p>
          <a:p>
            <a:pPr lvl="1"/>
            <a:r>
              <a:rPr lang="en-US" dirty="0"/>
              <a:t>Open space</a:t>
            </a:r>
          </a:p>
          <a:p>
            <a:pPr lvl="1"/>
            <a:r>
              <a:rPr lang="en-US" dirty="0"/>
              <a:t>Mountain access/scenery</a:t>
            </a:r>
          </a:p>
          <a:p>
            <a:pPr lvl="1"/>
            <a:r>
              <a:rPr lang="en-US" dirty="0"/>
              <a:t>Recreation</a:t>
            </a:r>
          </a:p>
          <a:p>
            <a:pPr lvl="0"/>
            <a:r>
              <a:rPr lang="en-US" dirty="0"/>
              <a:t>Not as dominated by </a:t>
            </a:r>
            <a:r>
              <a:rPr lang="en-US" b="1" dirty="0"/>
              <a:t>warehouse/industrial development</a:t>
            </a:r>
            <a:r>
              <a:rPr lang="en-US" dirty="0"/>
              <a:t> as some surrounding Inland Empire areas</a:t>
            </a:r>
          </a:p>
          <a:p>
            <a:pPr lvl="0"/>
            <a:r>
              <a:rPr lang="en-US" b="1" dirty="0"/>
              <a:t>Metrolink / transportation access</a:t>
            </a:r>
            <a:endParaRPr lang="en-US" dirty="0"/>
          </a:p>
          <a:p>
            <a:pPr lvl="0"/>
            <a:r>
              <a:rPr lang="en-US" dirty="0"/>
              <a:t>Diverse housing/community</a:t>
            </a:r>
          </a:p>
        </p:txBody>
      </p:sp>
    </p:spTree>
    <p:extLst>
      <p:ext uri="{BB962C8B-B14F-4D97-AF65-F5344CB8AC3E}">
        <p14:creationId xmlns:p14="http://schemas.microsoft.com/office/powerpoint/2010/main" val="38448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658"/>
    </mc:Choice>
    <mc:Fallback xmlns="">
      <p:transition spd="slow" advTm="75658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4AACD-8E4D-058A-6CAC-53424AB4B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F048B-0079-C999-BD38-C6D1A8DC5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90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33"/>
    </mc:Choice>
    <mc:Fallback xmlns="">
      <p:transition spd="slow" advTm="3533"/>
    </mc:Fallback>
  </mc:AlternateContent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152</TotalTime>
  <Words>413</Words>
  <Application>Microsoft Macintosh PowerPoint</Application>
  <PresentationFormat>Widescreen</PresentationFormat>
  <Paragraphs>82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Gill Sans MT</vt:lpstr>
      <vt:lpstr>Gallery</vt:lpstr>
      <vt:lpstr>Upland Housing market</vt:lpstr>
      <vt:lpstr>Historical data in upland</vt:lpstr>
      <vt:lpstr>City vs State vs Country</vt:lpstr>
      <vt:lpstr>Growth rate</vt:lpstr>
      <vt:lpstr>Causes</vt:lpstr>
      <vt:lpstr>Causes continued</vt:lpstr>
      <vt:lpstr>Causes continued </vt:lpstr>
      <vt:lpstr>Causes continued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A. Hernandez Gonzalez</dc:creator>
  <cp:lastModifiedBy>Danny A. Hernandez Gonzalez</cp:lastModifiedBy>
  <cp:revision>2</cp:revision>
  <dcterms:created xsi:type="dcterms:W3CDTF">2026-09-10T00:17:00Z</dcterms:created>
  <dcterms:modified xsi:type="dcterms:W3CDTF">2026-10-22T00:17:09Z</dcterms:modified>
</cp:coreProperties>
</file>